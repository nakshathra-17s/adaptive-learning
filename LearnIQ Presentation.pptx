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</ns0:embeddedFont>
    <ns0:embeddedFont>
      <ns0:font typeface="Inte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1a586829-6ac5-4b5a-8be6-2a4ddd47ab6d.fntdata" /><ns0:Relationship Id="rIdFont21" Type="http://schemas.openxmlformats.org/officeDocument/2006/relationships/font" Target="fonts/8cd1bff1-21ff-4c91-bd10-8692ea64b346.fntdata" /><ns0:Relationship Id="rIdFont22" Type="http://schemas.openxmlformats.org/officeDocument/2006/relationships/font" Target="fonts/7c1f8671-3ede-4ba7-864f-ce49d6be64c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86012"/>
            <a:ext cx="2630834" cy="2952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900" y="2443162"/>
            <a:ext cx="242128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ADAPTIVE LEARNING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09887"/>
            <a:ext cx="2975957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lus Jakarta Sans"/>
              </a:rPr>
              <a:t>LearnIQ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70858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A learning path built around you. Delivering personalized content, dynamic pace, and real-time support shaped by each learner's distinct needs.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38387"/>
            <a:ext cx="5381625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38875" y="2338387"/>
            <a:ext cx="5381625" cy="2876550"/>
          </a:xfrm>
          <a:prstGeom prst="roundRect">
            <a:avLst>
              <a:gd name="adj" fmla="val 39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34150" y="3662362"/>
            <a:ext cx="4791075" cy="100012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34150" y="3662362"/>
            <a:ext cx="38100" cy="1000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01 • The Learning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633662"/>
            <a:ext cx="62882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One Classroom, Diverse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014662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Standard one-size-fits-all education leaves critical knowledge gaps unaddressed across different student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662362"/>
            <a:ext cx="5988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Key Mismatches Identified: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633662"/>
            <a:ext cx="56578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The Core Problem &amp;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014662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Without continuous checks, learning gaps remain hidden until formal assessments occur, leading to persistent friction.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0052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005262"/>
            <a:ext cx="469582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Style Mismatch: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Visual learners struggle with dense, text-only instruction.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4624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462462"/>
            <a:ext cx="469582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Level Mismatch: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Beginners lack basics while advanced learners lack challenge.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3814762"/>
            <a:ext cx="54673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1E3A8A"/>
                </a:solidFill>
                <a:latin typeface="Inter"/>
              </a:rPr>
              <a:t>Core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081462"/>
            <a:ext cx="45434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How can one platform seamlessly respond to different learners without complicating the user experience?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867025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74" y="2867025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124" y="2867025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9908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8412" y="2990850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949" y="2990850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02 • Innovation &amp; Learning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53377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8620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Tailors delivery into Visual, Story, or Practice modes depending on cognitive preferences.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53377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886200"/>
            <a:ext cx="31496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Dynamically assigns Foundation, Revision, or Advanced Application material.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53377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Pace &amp;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388620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Adjusts depth (Short, Standard, Deep) based on real-time test scores, attempts, and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700087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03 • Learner Archetypes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71575"/>
            <a:ext cx="7000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Different Learners, One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52575"/>
            <a:ext cx="5429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Students begin with a learning mode that feels natural, while personalization operates silently underneath: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2219325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19325"/>
            <a:ext cx="642937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Explorer: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Discovers concepts through open experimentation.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2447925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47925"/>
            <a:ext cx="642937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Visualizer: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Grasps ideas through diagrams and graphics.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2676525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676525"/>
            <a:ext cx="642937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Challenger: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Learns rapidly by solving practice problems.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905125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905125"/>
            <a:ext cx="642937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Storyteller: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Connects through contextual narratives.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7576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4014787"/>
            <a:ext cx="198879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32474" y="3643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6515" y="2586037"/>
            <a:ext cx="198879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97489" y="3643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01530" y="4014787"/>
            <a:ext cx="198879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62504" y="3643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6545" y="2586037"/>
            <a:ext cx="198879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7519" y="3643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31560" y="4014787"/>
            <a:ext cx="198879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92535" y="3643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04 • The Adaptive Learning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78" y="4176712"/>
            <a:ext cx="21852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01. 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307" y="4433887"/>
            <a:ext cx="2081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Find starting knowledge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8293" y="2747962"/>
            <a:ext cx="21852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02. Personalize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0322" y="3005137"/>
            <a:ext cx="2081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Configure format, style, and 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3308" y="4176712"/>
            <a:ext cx="21852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03. Teach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337" y="4433887"/>
            <a:ext cx="2081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Deliver tailored lesson material.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8323" y="2747962"/>
            <a:ext cx="21852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04.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0353" y="3005137"/>
            <a:ext cx="2081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Measure real-time understanding.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3339" y="4176712"/>
            <a:ext cx="21852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05. Intervene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368" y="4433887"/>
            <a:ext cx="2081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Provide targeted, instant hints.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62162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747962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3433762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4119562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4805362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6050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908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62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53482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38375"/>
            <a:ext cx="2381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9241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609975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295775"/>
            <a:ext cx="2190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981575"/>
            <a:ext cx="238125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05 • Student Journey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2214562"/>
            <a:ext cx="10439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01. Registration &amp; Profiling: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Student signs up and inputs preference profile.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" y="2900362"/>
            <a:ext cx="10439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02. Style Selection: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Choose preferred learning modality (Visual, Practice, Narrative).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" y="3586162"/>
            <a:ext cx="10439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03. Diagnostic Checkpoint: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Initial test assigns proper proficiency tier (Beginner/Intermediate/Advanced).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" y="4271962"/>
            <a:ext cx="10439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04. Adaptive Lesson: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Custom-formatted content delivered at the optimal pace.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" y="4957762"/>
            <a:ext cx="10439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05. AI Tutor &amp; Verification: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Interactive verification quiz with real-time AI tutor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24112"/>
            <a:ext cx="5381625" cy="2705100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38875" y="2424112"/>
            <a:ext cx="5381625" cy="2705100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34150" y="3100387"/>
            <a:ext cx="479107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4150" y="3652837"/>
            <a:ext cx="4791075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4150" y="4205287"/>
            <a:ext cx="4791075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06 • Technical MVP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719387"/>
            <a:ext cx="62882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Core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100387"/>
            <a:ext cx="5988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Built for reliability, speed, and clear demonstration depth.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2719387"/>
            <a:ext cx="56578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Plus Jakarta Sans"/>
              </a:rPr>
              <a:t>Design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4718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471862"/>
            <a:ext cx="5750718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Frontend: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Clean HTML, CSS, and Vanilla JavaScript.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7004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700462"/>
            <a:ext cx="5750718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Backend: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Python Flask routes managing adaptive quiz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9290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3929062"/>
            <a:ext cx="5750718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AI Layer: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Contextual content synthesis and AI tutor hints.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415766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4157662"/>
            <a:ext cx="4695825" cy="4572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Database: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Lightweight SQLite tracking session state and progress.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8450" y="3214687"/>
            <a:ext cx="46577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✓ Focused: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Single topic depth over superficial scope.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8450" y="3767137"/>
            <a:ext cx="46577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✓ Explainable: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Clear deterministic decision paths.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8450" y="4319587"/>
            <a:ext cx="4657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✓ Reliable &amp; Fast: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Rapid iteration with deterministic safeguards.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940843"/>
            <a:ext cx="30749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5962" y="2940843"/>
            <a:ext cx="6436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2035" y="2940843"/>
            <a:ext cx="1518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479006"/>
            <a:ext cx="30749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5962" y="3479006"/>
            <a:ext cx="6436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92035" y="3479006"/>
            <a:ext cx="1518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4017168"/>
            <a:ext cx="30749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5962" y="4017168"/>
            <a:ext cx="6436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92035" y="4017168"/>
            <a:ext cx="1518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555331"/>
            <a:ext cx="30749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5962" y="4555331"/>
            <a:ext cx="6436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92035" y="4555331"/>
            <a:ext cx="15189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82535" y="3083718"/>
            <a:ext cx="695325" cy="261937"/>
          </a:xfrm>
          <a:prstGeom prst="roundRect">
            <a:avLst>
              <a:gd name="adj" fmla="val 21818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82535" y="3621881"/>
            <a:ext cx="695325" cy="261937"/>
          </a:xfrm>
          <a:prstGeom prst="roundRect">
            <a:avLst>
              <a:gd name="adj" fmla="val 21818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2535" y="4160043"/>
            <a:ext cx="781050" cy="261937"/>
          </a:xfrm>
          <a:prstGeom prst="roundRect">
            <a:avLst>
              <a:gd name="adj" fmla="val 2181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82535" y="4698206"/>
            <a:ext cx="695325" cy="261937"/>
          </a:xfrm>
          <a:prstGeom prst="roundRect">
            <a:avLst>
              <a:gd name="adj" fmla="val 21818"/>
            </a:avLst>
          </a:prstGeom>
          <a:solidFill>
            <a:srgbClr val="FEF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1500" y="2450306"/>
          <a:ext cx="11029948" cy="265271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74937"/>
                <a:gridCol w="6436072"/>
                <a:gridCol w="1518939"/>
              </a:tblGrid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Potential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Mitigation Safeguard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AI Hallucinations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Strict topic-limited prompts restricted to school curriculum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Bad Student Input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Input validation and strict response character restrictions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Misaligned Personalization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Triangulation of learner style, diagnostic score, and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54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Offline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Frontend runs locally; network requested only for generative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07 • Trust &amp; AI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7785" y="3121818"/>
            <a:ext cx="7905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854D0E"/>
                </a:solidFill>
                <a:latin typeface="Inter"/>
              </a:rP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7785" y="3659981"/>
            <a:ext cx="7905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854D0E"/>
                </a:solidFill>
                <a:latin typeface="Inter"/>
              </a:rP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7785" y="4198143"/>
            <a:ext cx="876300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166534"/>
                </a:solidFill>
                <a:latin typeface="Inter"/>
              </a:rPr>
              <a:t>HANDLED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7785" y="4736306"/>
            <a:ext cx="7905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854D0E"/>
                </a:solidFill>
                <a:latin typeface="Inter"/>
              </a:rPr>
              <a:t>PARTIAL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90800"/>
            <a:ext cx="5381625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3276600"/>
            <a:ext cx="5381625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191000"/>
            <a:ext cx="5381625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4876800"/>
            <a:ext cx="5381625" cy="552450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337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0481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7339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419725"/>
            <a:ext cx="5381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90725"/>
            <a:ext cx="5381625" cy="304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767012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452812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367212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53012"/>
            <a:ext cx="1714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08 • Current MVP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990725"/>
            <a:ext cx="54768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The current platform implementation already validates key user journey milestones: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2743200"/>
            <a:ext cx="4772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Registration: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Seamless student onboarding and goal definition.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3429000"/>
            <a:ext cx="47720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Adaptive Path: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Style + diagnostic driving instant level placement.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" y="4343400"/>
            <a:ext cx="4772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Learning Hub: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Dynamic format, duration, and language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" y="5029200"/>
            <a:ext cx="47720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AI Tutor UI: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Context-aware topic guidance and interactive Q&amp;A.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90812"/>
            <a:ext cx="5381625" cy="2133600"/>
          </a:xfrm>
          <a:prstGeom prst="roundRect">
            <a:avLst>
              <a:gd name="adj" fmla="val 53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09 • MVP Focus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5125" y="3071812"/>
            <a:ext cx="714375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7843" y="4214812"/>
            <a:ext cx="2928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3A8A"/>
                </a:solidFill>
                <a:latin typeface="Inter"/>
              </a:rPr>
              <a:t>Core Topic: Trigonometry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2690812"/>
            <a:ext cx="5953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Deep Validation Over Broad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3071812"/>
            <a:ext cx="54768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By focusing the MVP entirely on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Trigonometry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, LearnIQ establishes high pedagogical depth and reliable demonstration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8875" y="3643312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Strategic Benefits: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650" y="402431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4024312"/>
            <a:ext cx="576262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Fast to construct and validate.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3650" y="425291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4252912"/>
            <a:ext cx="576262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Easily explainable architecture for stakeholders.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4481512"/>
            <a:ext cx="857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481512"/>
            <a:ext cx="5762625" cy="22860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Creates a robust blueprint for future multi-subject expansion.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9999" y="2590800"/>
            <a:ext cx="3530649" cy="2371725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867025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74" y="2867025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124" y="2867025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9908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9908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236" y="2990850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10 • Signature Innovation: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53377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Signal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8620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Monitors low test scores, repeated errors, and uncommonly long pauses during exercises.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53377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Adaptive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388620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Identifies exact knowledge gap and selects optimal pedagogical intervention strategy.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53377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Targeted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3886200"/>
            <a:ext cx="31496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Triggers a mini-lesson, visual example, or immediate AI tutor hint at the exact right moment.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122961" y="1990725"/>
            <a:ext cx="1946076" cy="2952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0" y="4162425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2102" y="2047875"/>
            <a:ext cx="212779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Inter"/>
              </a:rPr>
              <a:t>VISION &amp; ROAD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0440" y="2514600"/>
            <a:ext cx="895111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Learn Differently. Learn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248025"/>
            <a:ext cx="8334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NOW: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Focused Trigonometry MVP  | 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NEXT: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Multi-subject validation  | 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VISION: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Real-time proactive intervention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4546" y="4524375"/>
            <a:ext cx="4202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Presented by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Mysuru Crew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• LearnIQ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90750" y="3009900"/>
            <a:ext cx="7810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0750" y="3771900"/>
            <a:ext cx="7810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0" y="3771900"/>
            <a:ext cx="7810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3152775"/>
            <a:ext cx="857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3924300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205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6125" y="3159918"/>
            <a:ext cx="839390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https://potomac.edu/wp-content/uploads/2025/01/how-does-technology-impact-student-learning-outcomes.png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6125" y="3393281"/>
            <a:ext cx="8393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potomac.edu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6125" y="3931443"/>
            <a:ext cx="839390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https://kitaboo.com/wp-content/uploads/2018/06/learn-1996846_1920.jpg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6125" y="4164806"/>
            <a:ext cx="8393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kitaboo.com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